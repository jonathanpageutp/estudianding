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7336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1463040"/>
            <a:ext cx="3840480" cy="3840480"/>
          </a:xfrm>
          <a:prstGeom prst="ellipse">
            <a:avLst/>
          </a:prstGeom>
          <a:solidFill>
            <a:srgbClr val="A6CE39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955280" y="3017520"/>
            <a:ext cx="2743200" cy="2743200"/>
          </a:xfrm>
          <a:prstGeom prst="ellipse">
            <a:avLst/>
          </a:prstGeom>
          <a:solidFill>
            <a:srgbClr val="00461F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6C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 8469 · Grupo 1LS241 · Semanas 1–3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Fundamentos de la Gerencia de Proyectos Informáticos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4160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ago → 5 sep 2026 · Ing. Henry D. De Gracia 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1.1 — MARCO DE REFERENCIA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Contenido del Módulo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457200" cy="457200"/>
          </a:xfrm>
          <a:prstGeom prst="ellipse">
            <a:avLst/>
          </a:prstGeom>
          <a:solidFill>
            <a:srgbClr val="00733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435608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proyecto? Características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121408"/>
            <a:ext cx="457200" cy="457200"/>
          </a:xfrm>
          <a:prstGeom prst="ellipse">
            <a:avLst/>
          </a:prstGeom>
          <a:solidFill>
            <a:srgbClr val="00733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43000" y="209397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de los proyectos de TI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779776"/>
            <a:ext cx="457200" cy="457200"/>
          </a:xfrm>
          <a:prstGeom prst="ellipse">
            <a:avLst/>
          </a:prstGeom>
          <a:solidFill>
            <a:srgbClr val="007336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752344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de éxito y de fracaso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438144"/>
            <a:ext cx="457200" cy="457200"/>
          </a:xfrm>
          <a:prstGeom prst="ellipse">
            <a:avLst/>
          </a:prstGeom>
          <a:solidFill>
            <a:srgbClr val="007336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410712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Guías internacionales de gestión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892040" y="1463040"/>
            <a:ext cx="457200" cy="457200"/>
          </a:xfrm>
          <a:prstGeom prst="ellipse">
            <a:avLst/>
          </a:prstGeom>
          <a:solidFill>
            <a:srgbClr val="007336"/>
          </a:solidFill>
          <a:ln/>
        </p:spPr>
      </p:sp>
      <p:sp>
        <p:nvSpPr>
          <p:cNvPr id="17" name="Text 15"/>
          <p:cNvSpPr/>
          <p:nvPr/>
        </p:nvSpPr>
        <p:spPr>
          <a:xfrm>
            <a:off x="4892040" y="1463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486400" y="1435608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Proyectos tradicionales vs. ágiles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892040" y="2121408"/>
            <a:ext cx="457200" cy="457200"/>
          </a:xfrm>
          <a:prstGeom prst="ellipse">
            <a:avLst/>
          </a:prstGeom>
          <a:solidFill>
            <a:srgbClr val="007336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121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0" y="2093976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 proyectos en las organizaciones (PMO)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892040" y="2779776"/>
            <a:ext cx="457200" cy="457200"/>
          </a:xfrm>
          <a:prstGeom prst="ellipse">
            <a:avLst/>
          </a:prstGeom>
          <a:solidFill>
            <a:srgbClr val="007336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779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0" y="2752344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organizacionales y roles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892040" y="3438144"/>
            <a:ext cx="457200" cy="457200"/>
          </a:xfrm>
          <a:prstGeom prst="ellipse">
            <a:avLst/>
          </a:prstGeom>
          <a:solidFill>
            <a:srgbClr val="007336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3438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0" y="3410712"/>
            <a:ext cx="3657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de vida del proyecto vs. del producto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DEFINICIÓN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es un proyecto?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40764"/>
            <a:ext cx="502920" cy="502920"/>
          </a:xfrm>
          <a:prstGeom prst="ellipse">
            <a:avLst/>
          </a:prstGeom>
          <a:solidFill>
            <a:srgbClr val="EAF2EC"/>
          </a:solidFill>
          <a:ln w="12700">
            <a:solidFill>
              <a:srgbClr val="0073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407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🎯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141732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Definición:   </a:t>
            </a:r>
            <a:pPr indent="0" marL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Esfuerzo temporal emprendido para crear un producto, servicio o resultado único.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63724"/>
            <a:ext cx="502920" cy="502920"/>
          </a:xfrm>
          <a:prstGeom prst="ellipse">
            <a:avLst/>
          </a:prstGeom>
          <a:solidFill>
            <a:srgbClr val="EAF2EC"/>
          </a:solidFill>
          <a:ln w="12700">
            <a:solidFill>
              <a:srgbClr val="0073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637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⏳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224028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Temporal:   </a:t>
            </a:r>
            <a:pPr indent="0" marL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Tiene inicio y fin definidos; concluye al lograr los objetivos.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86684"/>
            <a:ext cx="502920" cy="502920"/>
          </a:xfrm>
          <a:prstGeom prst="ellipse">
            <a:avLst/>
          </a:prstGeom>
          <a:solidFill>
            <a:srgbClr val="EAF2EC"/>
          </a:solidFill>
          <a:ln w="12700">
            <a:solidFill>
              <a:srgbClr val="0073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866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✨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306324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Único:   </a:t>
            </a:r>
            <a:pPr indent="0" marL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resultado no es repetitivo; cada proyecto es distinto.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09644"/>
            <a:ext cx="502920" cy="502920"/>
          </a:xfrm>
          <a:prstGeom prst="ellipse">
            <a:avLst/>
          </a:prstGeom>
          <a:solidFill>
            <a:srgbClr val="EAF2EC"/>
          </a:solidFill>
          <a:ln w="12700">
            <a:solidFill>
              <a:srgbClr val="0073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096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📈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388620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Elaboración progresiva:   </a:t>
            </a:r>
            <a:pPr indent="0" marL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detalla y refina a medida que avanza.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CARACTERÍSTICAS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Características de un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54780" cy="1417320"/>
          </a:xfrm>
          <a:prstGeom prst="roundRect">
            <a:avLst>
              <a:gd name="adj" fmla="val 5161"/>
            </a:avLst>
          </a:prstGeom>
          <a:solidFill>
            <a:srgbClr val="EAF2EC"/>
          </a:solidFill>
          <a:ln w="9525">
            <a:solidFill>
              <a:srgbClr val="0073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27048"/>
            <a:ext cx="3625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🕒  </a:t>
            </a:r>
            <a:pPr indent="0" marL="0">
              <a:buNone/>
            </a:pPr>
            <a:r>
              <a:rPr lang="en-US" sz="1450" b="1" dirty="0">
                <a:solidFill>
                  <a:srgbClr val="007336"/>
                </a:solidFill>
              </a:rPr>
              <a:t>Temporalidad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7512" y="1920240"/>
            <a:ext cx="36255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limitada, con un comienzo y un cierre claramente establecidos.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86300" y="1417320"/>
            <a:ext cx="3954780" cy="1417320"/>
          </a:xfrm>
          <a:prstGeom prst="roundRect">
            <a:avLst>
              <a:gd name="adj" fmla="val 5161"/>
            </a:avLst>
          </a:prstGeom>
          <a:solidFill>
            <a:srgbClr val="EAF2EC"/>
          </a:solidFill>
          <a:ln w="9525">
            <a:solidFill>
              <a:srgbClr val="0073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50892" y="1527048"/>
            <a:ext cx="3625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🧩  </a:t>
            </a:r>
            <a:pPr indent="0" marL="0">
              <a:buNone/>
            </a:pPr>
            <a:r>
              <a:rPr lang="en-US" sz="1450" b="1" dirty="0">
                <a:solidFill>
                  <a:srgbClr val="007336"/>
                </a:solidFill>
              </a:rPr>
              <a:t>Producto único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50892" y="1920240"/>
            <a:ext cx="36255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entregables singulares, diferentes a la operación rutinaria.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3954780" cy="1417320"/>
          </a:xfrm>
          <a:prstGeom prst="roundRect">
            <a:avLst>
              <a:gd name="adj" fmla="val 5161"/>
            </a:avLst>
          </a:prstGeom>
          <a:solidFill>
            <a:srgbClr val="EAF2EC"/>
          </a:solidFill>
          <a:ln w="9525">
            <a:solidFill>
              <a:srgbClr val="0073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3172968"/>
            <a:ext cx="3625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👥  </a:t>
            </a:r>
            <a:pPr indent="0" marL="0">
              <a:buNone/>
            </a:pPr>
            <a:r>
              <a:rPr lang="en-US" sz="1450" b="1" dirty="0">
                <a:solidFill>
                  <a:srgbClr val="007336"/>
                </a:solidFill>
              </a:rPr>
              <a:t>Recursos definidos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" y="3566160"/>
            <a:ext cx="36255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Personas, presupuesto, tiempo y tecnología asignados y limitados.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86300" y="3063240"/>
            <a:ext cx="3954780" cy="1417320"/>
          </a:xfrm>
          <a:prstGeom prst="roundRect">
            <a:avLst>
              <a:gd name="adj" fmla="val 5161"/>
            </a:avLst>
          </a:prstGeom>
          <a:solidFill>
            <a:srgbClr val="EAF2EC"/>
          </a:solidFill>
          <a:ln w="9525">
            <a:solidFill>
              <a:srgbClr val="0073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0892" y="3172968"/>
            <a:ext cx="3625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⚖️  </a:t>
            </a:r>
            <a:pPr indent="0" marL="0">
              <a:buNone/>
            </a:pPr>
            <a:r>
              <a:rPr lang="en-US" sz="1450" b="1" dirty="0">
                <a:solidFill>
                  <a:srgbClr val="007336"/>
                </a:solidFill>
              </a:rPr>
              <a:t>Triple restricción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50892" y="3566160"/>
            <a:ext cx="36255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Alcance, tiempo y costo en equilibrio; afecta la calidad.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Importancia de los proyectos informáticos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54780" cy="1417320"/>
          </a:xfrm>
          <a:prstGeom prst="roundRect">
            <a:avLst>
              <a:gd name="adj" fmla="val 5161"/>
            </a:avLst>
          </a:prstGeom>
          <a:solidFill>
            <a:srgbClr val="EAF2EC"/>
          </a:solidFill>
          <a:ln w="9525">
            <a:solidFill>
              <a:srgbClr val="0073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27048"/>
            <a:ext cx="3625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🚀  </a:t>
            </a:r>
            <a:pPr indent="0" marL="0">
              <a:buNone/>
            </a:pPr>
            <a:r>
              <a:rPr lang="en-US" sz="1450" b="1" dirty="0">
                <a:solidFill>
                  <a:srgbClr val="007336"/>
                </a:solidFill>
              </a:rPr>
              <a:t>Transformación digital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7512" y="1920240"/>
            <a:ext cx="36255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Habilitan la modernización y competitividad de las organizaciones.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86300" y="1417320"/>
            <a:ext cx="3954780" cy="1417320"/>
          </a:xfrm>
          <a:prstGeom prst="roundRect">
            <a:avLst>
              <a:gd name="adj" fmla="val 5161"/>
            </a:avLst>
          </a:prstGeom>
          <a:solidFill>
            <a:srgbClr val="EAF2EC"/>
          </a:solidFill>
          <a:ln w="9525">
            <a:solidFill>
              <a:srgbClr val="0073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50892" y="1527048"/>
            <a:ext cx="3625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💰  </a:t>
            </a:r>
            <a:pPr indent="0" marL="0">
              <a:buNone/>
            </a:pPr>
            <a:r>
              <a:rPr lang="en-US" sz="1450" b="1" dirty="0">
                <a:solidFill>
                  <a:srgbClr val="007336"/>
                </a:solidFill>
              </a:rPr>
              <a:t>Inversión estratégica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50892" y="1920240"/>
            <a:ext cx="36255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Requieren fuerte inversión; su éxito impacta la sostenibilidad.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3954780" cy="1417320"/>
          </a:xfrm>
          <a:prstGeom prst="roundRect">
            <a:avLst>
              <a:gd name="adj" fmla="val 5161"/>
            </a:avLst>
          </a:prstGeom>
          <a:solidFill>
            <a:srgbClr val="EAF2EC"/>
          </a:solidFill>
          <a:ln w="9525">
            <a:solidFill>
              <a:srgbClr val="0073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3172968"/>
            <a:ext cx="3625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🔗  </a:t>
            </a:r>
            <a:pPr indent="0" marL="0">
              <a:buNone/>
            </a:pPr>
            <a:r>
              <a:rPr lang="en-US" sz="1450" b="1" dirty="0">
                <a:solidFill>
                  <a:srgbClr val="007336"/>
                </a:solidFill>
              </a:rPr>
              <a:t>Integración tecnológica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" y="3566160"/>
            <a:ext cx="36255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 procesos, datos y sistemas del negocio.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86300" y="3063240"/>
            <a:ext cx="3954780" cy="1417320"/>
          </a:xfrm>
          <a:prstGeom prst="roundRect">
            <a:avLst>
              <a:gd name="adj" fmla="val 5161"/>
            </a:avLst>
          </a:prstGeom>
          <a:solidFill>
            <a:srgbClr val="EAF2EC"/>
          </a:solidFill>
          <a:ln w="9525">
            <a:solidFill>
              <a:srgbClr val="0073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0892" y="3172968"/>
            <a:ext cx="3625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⚠️  </a:t>
            </a:r>
            <a:pPr indent="0" marL="0">
              <a:buNone/>
            </a:pPr>
            <a:r>
              <a:rPr lang="en-US" sz="1450" b="1" dirty="0">
                <a:solidFill>
                  <a:srgbClr val="007336"/>
                </a:solidFill>
              </a:rPr>
              <a:t>Alta incertidumbre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50892" y="3566160"/>
            <a:ext cx="36255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de requisitos y tecnología elevan el riesgo de fracaso.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APRENDER DEL RESULTADO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Factores de éxito y de fracaso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594360"/>
          </a:xfrm>
          <a:prstGeom prst="roundRect">
            <a:avLst>
              <a:gd name="adj" fmla="val 9231"/>
            </a:avLst>
          </a:prstGeom>
          <a:solidFill>
            <a:srgbClr val="00733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✅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Factores de éxito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2130552"/>
            <a:ext cx="3977640" cy="2350008"/>
          </a:xfrm>
          <a:prstGeom prst="roundRect">
            <a:avLst>
              <a:gd name="adj" fmla="val 2335"/>
            </a:avLst>
          </a:prstGeom>
          <a:solidFill>
            <a:srgbClr val="F3F8F4"/>
          </a:solidFill>
          <a:ln w="9525">
            <a:solidFill>
              <a:srgbClr val="0073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286000"/>
            <a:ext cx="357530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y alcance bien definidos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Apoyo de la alta dirección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Involucramiento de los stakeholders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competente y comunicación efectiva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activa de riesgos y cambios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77640" cy="594360"/>
          </a:xfrm>
          <a:prstGeom prst="roundRect">
            <a:avLst>
              <a:gd name="adj" fmla="val 9231"/>
            </a:avLst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41732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❌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Factores de fracaso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54880" y="2130552"/>
            <a:ext cx="3977640" cy="2350008"/>
          </a:xfrm>
          <a:prstGeom prst="roundRect">
            <a:avLst>
              <a:gd name="adj" fmla="val 2335"/>
            </a:avLst>
          </a:prstGeom>
          <a:solidFill>
            <a:srgbClr val="F3F8F4"/>
          </a:solidFill>
          <a:ln w="9525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2286000"/>
            <a:ext cx="357530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ambiguos o cambiantes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Estimaciones de tiempo/costo irreales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patrocinio o compromiso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deficiente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ignorados y alcance sin control (scope creep)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ESTÁNDARES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Guías internacionales para la gestión de proyectos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54780" cy="1417320"/>
          </a:xfrm>
          <a:prstGeom prst="roundRect">
            <a:avLst>
              <a:gd name="adj" fmla="val 5161"/>
            </a:avLst>
          </a:prstGeom>
          <a:solidFill>
            <a:srgbClr val="EAF2EC"/>
          </a:solidFill>
          <a:ln w="9525">
            <a:solidFill>
              <a:srgbClr val="0073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27048"/>
            <a:ext cx="3625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📘  </a:t>
            </a:r>
            <a:pPr indent="0" marL="0">
              <a:buNone/>
            </a:pPr>
            <a:r>
              <a:rPr lang="en-US" sz="1450" b="1" dirty="0">
                <a:solidFill>
                  <a:srgbClr val="007336"/>
                </a:solidFill>
              </a:rPr>
              <a:t>Guía PMBOK® (PMI)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7512" y="1920240"/>
            <a:ext cx="36255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buenas prácticas por dominios y grupos de proceso. 7ª edición basada en principios.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86300" y="1417320"/>
            <a:ext cx="3954780" cy="1417320"/>
          </a:xfrm>
          <a:prstGeom prst="roundRect">
            <a:avLst>
              <a:gd name="adj" fmla="val 5161"/>
            </a:avLst>
          </a:prstGeom>
          <a:solidFill>
            <a:srgbClr val="EAF2EC"/>
          </a:solidFill>
          <a:ln w="9525">
            <a:solidFill>
              <a:srgbClr val="0073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50892" y="1527048"/>
            <a:ext cx="3625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📗  </a:t>
            </a:r>
            <a:pPr indent="0" marL="0">
              <a:buNone/>
            </a:pPr>
            <a:r>
              <a:rPr lang="en-US" sz="1450" b="1" dirty="0">
                <a:solidFill>
                  <a:srgbClr val="007336"/>
                </a:solidFill>
              </a:rPr>
              <a:t>ISO 21500 / 21502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50892" y="1920240"/>
            <a:ext cx="36255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 internacional con directrices para la dirección y gestión de proyectos.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3954780" cy="1417320"/>
          </a:xfrm>
          <a:prstGeom prst="roundRect">
            <a:avLst>
              <a:gd name="adj" fmla="val 5161"/>
            </a:avLst>
          </a:prstGeom>
          <a:solidFill>
            <a:srgbClr val="EAF2EC"/>
          </a:solidFill>
          <a:ln w="9525">
            <a:solidFill>
              <a:srgbClr val="0073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3172968"/>
            <a:ext cx="3625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📙  </a:t>
            </a:r>
            <a:pPr indent="0" marL="0">
              <a:buNone/>
            </a:pPr>
            <a:r>
              <a:rPr lang="en-US" sz="1450" b="1" dirty="0">
                <a:solidFill>
                  <a:srgbClr val="007336"/>
                </a:solidFill>
              </a:rPr>
              <a:t>PRINCE2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" y="3566160"/>
            <a:ext cx="36255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estructurado por procesos y roles, muy usado en el sector público europeo.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86300" y="3063240"/>
            <a:ext cx="3954780" cy="1417320"/>
          </a:xfrm>
          <a:prstGeom prst="roundRect">
            <a:avLst>
              <a:gd name="adj" fmla="val 5161"/>
            </a:avLst>
          </a:prstGeom>
          <a:solidFill>
            <a:srgbClr val="EAF2EC"/>
          </a:solidFill>
          <a:ln w="9525">
            <a:solidFill>
              <a:srgbClr val="0073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0892" y="3172968"/>
            <a:ext cx="3625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🌐  </a:t>
            </a:r>
            <a:pPr indent="0" marL="0">
              <a:buNone/>
            </a:pPr>
            <a:r>
              <a:rPr lang="en-US" sz="1450" b="1" dirty="0">
                <a:solidFill>
                  <a:srgbClr val="007336"/>
                </a:solidFill>
              </a:rPr>
              <a:t>Enfoque común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50892" y="3566160"/>
            <a:ext cx="36255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Comparten fases, roles y control; se adaptan al tipo y tamaño del proyecto.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ENFOQUES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Proyectos tradicionales vs. ágiles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594360"/>
          </a:xfrm>
          <a:prstGeom prst="roundRect">
            <a:avLst>
              <a:gd name="adj" fmla="val 9231"/>
            </a:avLst>
          </a:prstGeom>
          <a:solidFill>
            <a:srgbClr val="00733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🧱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Tradicional (predictivo)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2130552"/>
            <a:ext cx="3977640" cy="2350008"/>
          </a:xfrm>
          <a:prstGeom prst="roundRect">
            <a:avLst>
              <a:gd name="adj" fmla="val 2335"/>
            </a:avLst>
          </a:prstGeom>
          <a:solidFill>
            <a:srgbClr val="F3F8F4"/>
          </a:solidFill>
          <a:ln w="9525">
            <a:solidFill>
              <a:srgbClr val="0073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286000"/>
            <a:ext cx="357530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detallada por adelantado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 secuenciales (cascada)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fijo, cambios controlados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al final del proyecto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requisitos estables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77640" cy="594360"/>
          </a:xfrm>
          <a:prstGeom prst="roundRect">
            <a:avLst>
              <a:gd name="adj" fmla="val 9231"/>
            </a:avLst>
          </a:prstGeom>
          <a:solidFill>
            <a:srgbClr val="A6CE39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41732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⚡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Ágil (adaptativo)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54880" y="2130552"/>
            <a:ext cx="3977640" cy="2350008"/>
          </a:xfrm>
          <a:prstGeom prst="roundRect">
            <a:avLst>
              <a:gd name="adj" fmla="val 2335"/>
            </a:avLst>
          </a:prstGeom>
          <a:solidFill>
            <a:srgbClr val="F3F8F4"/>
          </a:solidFill>
          <a:ln w="9525">
            <a:solidFill>
              <a:srgbClr val="A6CE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2286000"/>
            <a:ext cx="357530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iterativa e incremental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Ciclos cortos (sprints)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flexible, mejora continua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frecuentes de valor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Ideal: requisitos cambiantes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ORGANIZACIÓN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gestión de proyectos en las organizaciones — PMO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40764"/>
            <a:ext cx="502920" cy="502920"/>
          </a:xfrm>
          <a:prstGeom prst="ellipse">
            <a:avLst/>
          </a:prstGeom>
          <a:solidFill>
            <a:srgbClr val="EAF2EC"/>
          </a:solidFill>
          <a:ln w="12700">
            <a:solidFill>
              <a:srgbClr val="0073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407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141732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PMO:   </a:t>
            </a:r>
            <a:pPr indent="0" marL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 de Gestión de Proyectos que estandariza y da soporte a la dirección de proyectos.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63724"/>
            <a:ext cx="502920" cy="502920"/>
          </a:xfrm>
          <a:prstGeom prst="ellipse">
            <a:avLst/>
          </a:prstGeom>
          <a:solidFill>
            <a:srgbClr val="EAF2EC"/>
          </a:solidFill>
          <a:ln w="12700">
            <a:solidFill>
              <a:srgbClr val="0073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637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📐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224028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   </a:t>
            </a:r>
            <a:pPr indent="0" marL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plantillas, procesos y buenas prácticas comunes.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86684"/>
            <a:ext cx="502920" cy="502920"/>
          </a:xfrm>
          <a:prstGeom prst="ellipse">
            <a:avLst/>
          </a:prstGeom>
          <a:solidFill>
            <a:srgbClr val="EAF2EC"/>
          </a:solidFill>
          <a:ln w="12700">
            <a:solidFill>
              <a:srgbClr val="0073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866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📊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306324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Gobernanza:   </a:t>
            </a:r>
            <a:pPr indent="0" marL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 el portafolio y prioriza iniciativas alineadas a la estrategia.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09644"/>
            <a:ext cx="502920" cy="502920"/>
          </a:xfrm>
          <a:prstGeom prst="ellipse">
            <a:avLst/>
          </a:prstGeom>
          <a:solidFill>
            <a:srgbClr val="EAF2EC"/>
          </a:solidFill>
          <a:ln w="12700">
            <a:solidFill>
              <a:srgbClr val="0073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096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🎓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388620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Soporte:   </a:t>
            </a:r>
            <a:pPr indent="0" marL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Capacita, asesora y consolida el histórico de proyectos.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ESTRUCTURAS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Estructuras organizacionales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54780" cy="1417320"/>
          </a:xfrm>
          <a:prstGeom prst="roundRect">
            <a:avLst>
              <a:gd name="adj" fmla="val 5161"/>
            </a:avLst>
          </a:prstGeom>
          <a:solidFill>
            <a:srgbClr val="EAF2EC"/>
          </a:solidFill>
          <a:ln w="9525">
            <a:solidFill>
              <a:srgbClr val="0073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527048"/>
            <a:ext cx="3625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🏛️  </a:t>
            </a:r>
            <a:pPr indent="0" marL="0">
              <a:buNone/>
            </a:pPr>
            <a:r>
              <a:rPr lang="en-US" sz="1450" b="1" dirty="0">
                <a:solidFill>
                  <a:srgbClr val="007336"/>
                </a:solidFill>
              </a:rPr>
              <a:t>Funcional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67512" y="1920240"/>
            <a:ext cx="36255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 en gerentes de área. El PM tiene poco poder; recursos por departamento.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86300" y="1417320"/>
            <a:ext cx="3954780" cy="1417320"/>
          </a:xfrm>
          <a:prstGeom prst="roundRect">
            <a:avLst>
              <a:gd name="adj" fmla="val 5161"/>
            </a:avLst>
          </a:prstGeom>
          <a:solidFill>
            <a:srgbClr val="EAF2EC"/>
          </a:solidFill>
          <a:ln w="9525">
            <a:solidFill>
              <a:srgbClr val="0073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50892" y="1527048"/>
            <a:ext cx="3625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🎯  </a:t>
            </a:r>
            <a:pPr indent="0" marL="0">
              <a:buNone/>
            </a:pPr>
            <a:r>
              <a:rPr lang="en-US" sz="1450" b="1" dirty="0">
                <a:solidFill>
                  <a:srgbClr val="007336"/>
                </a:solidFill>
              </a:rPr>
              <a:t>Proyectizada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50892" y="1920240"/>
            <a:ext cx="36255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Organización gira en torno a proyectos. El PM tiene máxima autoridad.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3063240"/>
            <a:ext cx="3954780" cy="1417320"/>
          </a:xfrm>
          <a:prstGeom prst="roundRect">
            <a:avLst>
              <a:gd name="adj" fmla="val 5161"/>
            </a:avLst>
          </a:prstGeom>
          <a:solidFill>
            <a:srgbClr val="EAF2EC"/>
          </a:solidFill>
          <a:ln w="9525">
            <a:solidFill>
              <a:srgbClr val="0073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" y="3172968"/>
            <a:ext cx="3625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🔀  </a:t>
            </a:r>
            <a:pPr indent="0" marL="0">
              <a:buNone/>
            </a:pPr>
            <a:r>
              <a:rPr lang="en-US" sz="1450" b="1" dirty="0">
                <a:solidFill>
                  <a:srgbClr val="007336"/>
                </a:solidFill>
              </a:rPr>
              <a:t>Matricial (mixta)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" y="3566160"/>
            <a:ext cx="36255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 ambas; autoridad compartida (débil, equilibrada o fuerte).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86300" y="3063240"/>
            <a:ext cx="3954780" cy="1417320"/>
          </a:xfrm>
          <a:prstGeom prst="roundRect">
            <a:avLst>
              <a:gd name="adj" fmla="val 5161"/>
            </a:avLst>
          </a:prstGeom>
          <a:solidFill>
            <a:srgbClr val="EAF2EC"/>
          </a:solidFill>
          <a:ln w="9525">
            <a:solidFill>
              <a:srgbClr val="0073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50892" y="3172968"/>
            <a:ext cx="36255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0000"/>
                </a:solidFill>
              </a:rPr>
              <a:t>⚖️  </a:t>
            </a:r>
            <a:pPr indent="0" marL="0">
              <a:buNone/>
            </a:pPr>
            <a:r>
              <a:rPr lang="en-US" sz="1450" b="1" dirty="0">
                <a:solidFill>
                  <a:srgbClr val="007336"/>
                </a:solidFill>
              </a:rPr>
              <a:t>Implicación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50892" y="3566160"/>
            <a:ext cx="36255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determina el poder del PM y la disponibilidad de recursos.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ROLES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en los proyectos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40764"/>
            <a:ext cx="502920" cy="502920"/>
          </a:xfrm>
          <a:prstGeom prst="ellipse">
            <a:avLst/>
          </a:prstGeom>
          <a:solidFill>
            <a:srgbClr val="EAF2EC"/>
          </a:solidFill>
          <a:ln w="12700">
            <a:solidFill>
              <a:srgbClr val="00733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407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👤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234440" y="141732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Patrocinador (sponsor):   </a:t>
            </a:r>
            <a:pPr indent="0" marL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 recursos y respaldo; autoriza el proyecto.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63724"/>
            <a:ext cx="502920" cy="502920"/>
          </a:xfrm>
          <a:prstGeom prst="ellipse">
            <a:avLst/>
          </a:prstGeom>
          <a:solidFill>
            <a:srgbClr val="EAF2EC"/>
          </a:solidFill>
          <a:ln w="12700">
            <a:solidFill>
              <a:srgbClr val="0073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3637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🧭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34440" y="224028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de proyecto (PM):   </a:t>
            </a:r>
            <a:pPr indent="0" marL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Planifica, ejecuta y controla; responsable de los objetivos.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86684"/>
            <a:ext cx="502920" cy="502920"/>
          </a:xfrm>
          <a:prstGeom prst="ellipse">
            <a:avLst/>
          </a:prstGeom>
          <a:solidFill>
            <a:srgbClr val="EAF2EC"/>
          </a:solidFill>
          <a:ln w="12700">
            <a:solidFill>
              <a:srgbClr val="0073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866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👥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306324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proyecto:   </a:t>
            </a:r>
            <a:pPr indent="0" marL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las actividades y produce los entregables.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009644"/>
            <a:ext cx="502920" cy="502920"/>
          </a:xfrm>
          <a:prstGeom prst="ellipse">
            <a:avLst/>
          </a:prstGeom>
          <a:solidFill>
            <a:srgbClr val="EAF2EC"/>
          </a:solidFill>
          <a:ln w="12700">
            <a:solidFill>
              <a:srgbClr val="0073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0096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🤝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3886200"/>
            <a:ext cx="7406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Interesados (stakeholders):   </a:t>
            </a:r>
            <a:pPr indent="0" marL="0">
              <a:buNone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Afectan o son afectados por el proyecto.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CICLO DE VIDA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vida del proyecto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737360"/>
            <a:ext cx="1481328" cy="1554480"/>
          </a:xfrm>
          <a:prstGeom prst="roundRect">
            <a:avLst>
              <a:gd name="adj" fmla="val 4938"/>
            </a:avLst>
          </a:prstGeom>
          <a:solidFill>
            <a:srgbClr val="007336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C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12648" y="2267712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2648" y="2670048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y acta de constitución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965960" y="1737360"/>
            <a:ext cx="21945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336"/>
                </a:solidFill>
              </a:rPr>
              <a:t>➜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67128" y="1737360"/>
            <a:ext cx="1481328" cy="1554480"/>
          </a:xfrm>
          <a:prstGeom prst="roundRect">
            <a:avLst>
              <a:gd name="adj" fmla="val 4938"/>
            </a:avLst>
          </a:prstGeom>
          <a:solidFill>
            <a:srgbClr val="EAF2EC"/>
          </a:solidFill>
          <a:ln/>
        </p:spPr>
      </p:sp>
      <p:sp>
        <p:nvSpPr>
          <p:cNvPr id="10" name="Text 8"/>
          <p:cNvSpPr/>
          <p:nvPr/>
        </p:nvSpPr>
        <p:spPr>
          <a:xfrm>
            <a:off x="2276856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276856" y="2267712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3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Planificación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76856" y="2670048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Alcance, cronograma, costos, riesgos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30168" y="1737360"/>
            <a:ext cx="21945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336"/>
                </a:solidFill>
              </a:rPr>
              <a:t>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831336" y="1737360"/>
            <a:ext cx="1481328" cy="1554480"/>
          </a:xfrm>
          <a:prstGeom prst="roundRect">
            <a:avLst>
              <a:gd name="adj" fmla="val 4938"/>
            </a:avLst>
          </a:prstGeom>
          <a:solidFill>
            <a:srgbClr val="007336"/>
          </a:solidFill>
          <a:ln/>
        </p:spPr>
      </p:sp>
      <p:sp>
        <p:nvSpPr>
          <p:cNvPr id="15" name="Text 13"/>
          <p:cNvSpPr/>
          <p:nvPr/>
        </p:nvSpPr>
        <p:spPr>
          <a:xfrm>
            <a:off x="3941064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C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41064" y="2267712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Ejecución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41064" y="2670048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producen los entregables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294376" y="1737360"/>
            <a:ext cx="21945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336"/>
                </a:solidFill>
              </a:rPr>
              <a:t>➜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95544" y="1737360"/>
            <a:ext cx="1481328" cy="1554480"/>
          </a:xfrm>
          <a:prstGeom prst="roundRect">
            <a:avLst>
              <a:gd name="adj" fmla="val 4938"/>
            </a:avLst>
          </a:prstGeom>
          <a:solidFill>
            <a:srgbClr val="EAF2EC"/>
          </a:solidFill>
          <a:ln/>
        </p:spPr>
      </p:sp>
      <p:sp>
        <p:nvSpPr>
          <p:cNvPr id="20" name="Text 18"/>
          <p:cNvSpPr/>
          <p:nvPr/>
        </p:nvSpPr>
        <p:spPr>
          <a:xfrm>
            <a:off x="5605272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05272" y="2267712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3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Monitoreo y Control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05272" y="2670048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mide y corrige el desempeño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58584" y="1737360"/>
            <a:ext cx="21945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7336"/>
                </a:solidFill>
              </a:rPr>
              <a:t>➜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159752" y="1737360"/>
            <a:ext cx="1481328" cy="1554480"/>
          </a:xfrm>
          <a:prstGeom prst="roundRect">
            <a:avLst>
              <a:gd name="adj" fmla="val 4938"/>
            </a:avLst>
          </a:prstGeom>
          <a:solidFill>
            <a:srgbClr val="007336"/>
          </a:solidFill>
          <a:ln/>
        </p:spPr>
      </p:sp>
      <p:sp>
        <p:nvSpPr>
          <p:cNvPr id="25" name="Text 23"/>
          <p:cNvSpPr/>
          <p:nvPr/>
        </p:nvSpPr>
        <p:spPr>
          <a:xfrm>
            <a:off x="726948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C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69480" y="2267712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69480" y="2670048"/>
            <a:ext cx="12618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E6F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Aceptación y lecciones aprendidas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3703320"/>
            <a:ext cx="8138160" cy="822960"/>
          </a:xfrm>
          <a:prstGeom prst="rect">
            <a:avLst/>
          </a:prstGeom>
          <a:solidFill>
            <a:srgbClr val="EAF2EC"/>
          </a:solidFill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04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monitoreo y control acompaña a la ejecución de forma continua.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7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· PROYECTO vs. PRODUCTO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Ciclo de vida del proyecto vs. del producto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77640" cy="594360"/>
          </a:xfrm>
          <a:prstGeom prst="roundRect">
            <a:avLst>
              <a:gd name="adj" fmla="val 9231"/>
            </a:avLst>
          </a:prstGeom>
          <a:solidFill>
            <a:srgbClr val="007336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1732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🛠️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Ciclo de vida del proyecto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02920" y="2130552"/>
            <a:ext cx="3977640" cy="2350008"/>
          </a:xfrm>
          <a:prstGeom prst="roundRect">
            <a:avLst>
              <a:gd name="adj" fmla="val 2335"/>
            </a:avLst>
          </a:prstGeom>
          <a:solidFill>
            <a:srgbClr val="F3F8F4"/>
          </a:solidFill>
          <a:ln w="9525">
            <a:solidFill>
              <a:srgbClr val="0073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2286000"/>
            <a:ext cx="357530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Temporal: inicia y termina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Fases: inicio → cierre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el entregable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al entregar el producto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77640" cy="594360"/>
          </a:xfrm>
          <a:prstGeom prst="roundRect">
            <a:avLst>
              <a:gd name="adj" fmla="val 9231"/>
            </a:avLst>
          </a:prstGeom>
          <a:solidFill>
            <a:srgbClr val="5B6B62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41732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📦  </a:t>
            </a:r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Ciclo de vida del producto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54880" y="2130552"/>
            <a:ext cx="3977640" cy="2350008"/>
          </a:xfrm>
          <a:prstGeom prst="roundRect">
            <a:avLst>
              <a:gd name="adj" fmla="val 2335"/>
            </a:avLst>
          </a:prstGeom>
          <a:solidFill>
            <a:srgbClr val="F3F8F4"/>
          </a:solidFill>
          <a:ln w="9525">
            <a:solidFill>
              <a:srgbClr val="5B6B6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56048" y="2286000"/>
            <a:ext cx="357530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Abarca toda la vida útil del producto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operación y mantenimiento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contener varios proyectos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 cuando el producto se retira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7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2926080"/>
            <a:ext cx="3291840" cy="3291840"/>
          </a:xfrm>
          <a:prstGeom prst="ellipse">
            <a:avLst/>
          </a:prstGeom>
          <a:solidFill>
            <a:srgbClr val="00461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1188720"/>
            <a:ext cx="3108960" cy="3108960"/>
          </a:xfrm>
          <a:prstGeom prst="ellipse">
            <a:avLst/>
          </a:prstGeom>
          <a:solidFill>
            <a:srgbClr val="A6CE39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6CE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6868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1 — Puntos clave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66928" y="1874520"/>
            <a:ext cx="79552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proyecto es un esfuerzo temporal que genera un resultado único.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éxito depende de objetivos claros, stakeholders y gestión de riesgos.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PMBOK, ISO 21500 y PRINCE2 son las guías de referencia.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organizacional define el poder del director de proyecto.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ciclo de vida del proyecto es distinto al del producto.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CE20B384D9006489D99143029094CA1" ma:contentTypeVersion="3" ma:contentTypeDescription="Crear nuevo documento." ma:contentTypeScope="" ma:versionID="5bd0a15530a0692e295ffea653843fe5">
  <xsd:schema xmlns:xsd="http://www.w3.org/2001/XMLSchema" xmlns:xs="http://www.w3.org/2001/XMLSchema" xmlns:p="http://schemas.microsoft.com/office/2006/metadata/properties" xmlns:ns2="d26b7897-4a2d-47c8-afc0-ef2816273962" targetNamespace="http://schemas.microsoft.com/office/2006/metadata/properties" ma:root="true" ma:fieldsID="a7c36177968c115c97bb5e94367e4057" ns2:_="">
    <xsd:import namespace="d26b7897-4a2d-47c8-afc0-ef281627396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6b7897-4a2d-47c8-afc0-ef28162739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AA079B-B734-48E6-8FF8-9ED22B5FFFAB}"/>
</file>

<file path=customXml/itemProps2.xml><?xml version="1.0" encoding="utf-8"?>
<ds:datastoreItem xmlns:ds="http://schemas.openxmlformats.org/officeDocument/2006/customXml" ds:itemID="{CDEA612D-D6DE-4B1A-B8AC-AB69DE9DFD5B}"/>
</file>

<file path=customXml/itemProps3.xml><?xml version="1.0" encoding="utf-8"?>
<ds:datastoreItem xmlns:ds="http://schemas.openxmlformats.org/officeDocument/2006/customXml" ds:itemID="{7279FC2D-5A60-4BDA-9175-F961305B31AF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2026-07-31T20:20:07Z</dcterms:created>
  <dcterms:modified xsi:type="dcterms:W3CDTF">2026-07-31T20:20:07Z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0x010100FCE20B384D9006489D99143029094CA1</vt:lpwstr>
  </property>
</Properties>
</file>